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2" d="100"/>
          <a:sy n="192" d="100"/>
        </p:scale>
        <p:origin x="8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;p2"/>
          <p:cNvSpPr/>
          <p:nvPr/>
        </p:nvSpPr>
        <p:spPr>
          <a:xfrm>
            <a:off x="2743920" y="756720"/>
            <a:ext cx="1081440" cy="1124640"/>
          </a:xfrm>
          <a:custGeom>
            <a:avLst/>
            <a:gdLst>
              <a:gd name="textAreaLeft" fmla="*/ 0 w 1081440"/>
              <a:gd name="textAreaRight" fmla="*/ 1081800 w 1081440"/>
              <a:gd name="textAreaTop" fmla="*/ 0 h 1124640"/>
              <a:gd name="textAreaBottom" fmla="*/ 1125000 h 112464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Google Shape;11;p2"/>
          <p:cNvSpPr/>
          <p:nvPr/>
        </p:nvSpPr>
        <p:spPr>
          <a:xfrm rot="10800000">
            <a:off x="5318640" y="3267000"/>
            <a:ext cx="1081440" cy="1124640"/>
          </a:xfrm>
          <a:custGeom>
            <a:avLst/>
            <a:gdLst>
              <a:gd name="textAreaLeft" fmla="*/ 0 w 1081440"/>
              <a:gd name="textAreaRight" fmla="*/ 1081800 w 1081440"/>
              <a:gd name="textAreaTop" fmla="*/ 0 h 1124640"/>
              <a:gd name="textAreaBottom" fmla="*/ 1125000 h 112464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044880" y="1444320"/>
            <a:ext cx="3054240" cy="153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3A5CE38-51EE-49DC-A9B7-911F0D2D1EA9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2;p11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960" bIns="489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11760" y="957240"/>
            <a:ext cx="8520120" cy="212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2500" lnSpcReduction="19999"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16000" b="0" u="none" strike="noStrike">
                <a:solidFill>
                  <a:schemeClr val="lt2"/>
                </a:solidFill>
                <a:effectLst/>
                <a:uFillTx/>
                <a:latin typeface="Economica"/>
                <a:ea typeface="Economica"/>
              </a:rPr>
              <a:t>xx%</a:t>
            </a:r>
            <a:endParaRPr lang="en-US" sz="1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11760" y="3161880"/>
            <a:ext cx="8520120" cy="1071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ctr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9CA5DEC-385A-4DE0-B383-DF477C5C5AB9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6DEF4A9-CC07-414E-A6F1-AE5EEEC71A1D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6;p3"/>
          <p:cNvSpPr/>
          <p:nvPr/>
        </p:nvSpPr>
        <p:spPr>
          <a:xfrm flipH="1">
            <a:off x="7596000" y="460080"/>
            <a:ext cx="1081440" cy="1124640"/>
          </a:xfrm>
          <a:custGeom>
            <a:avLst/>
            <a:gdLst>
              <a:gd name="textAreaLeft" fmla="*/ 360 w 1081440"/>
              <a:gd name="textAreaRight" fmla="*/ 1082160 w 1081440"/>
              <a:gd name="textAreaTop" fmla="*/ 0 h 1124640"/>
              <a:gd name="textAreaBottom" fmla="*/ 1125000 h 112464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17;p3"/>
          <p:cNvSpPr/>
          <p:nvPr/>
        </p:nvSpPr>
        <p:spPr>
          <a:xfrm rot="10800000" flipH="1">
            <a:off x="466560" y="3558600"/>
            <a:ext cx="1081440" cy="1124640"/>
          </a:xfrm>
          <a:custGeom>
            <a:avLst/>
            <a:gdLst>
              <a:gd name="textAreaLeft" fmla="*/ 360 w 1081440"/>
              <a:gd name="textAreaRight" fmla="*/ 1082160 w 1081440"/>
              <a:gd name="textAreaTop" fmla="*/ 0 h 1124640"/>
              <a:gd name="textAreaBottom" fmla="*/ 1125000 h 112464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73640" y="1806480"/>
            <a:ext cx="7596360" cy="153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EF7DD7-8E28-45B5-A56A-6BB91631863F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1;p4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960" bIns="489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316080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225080"/>
            <a:ext cx="8520120" cy="335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641CA65-59A6-4FBB-A54E-E0A7FE014616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316080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11760" y="1225080"/>
            <a:ext cx="3999600" cy="335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832280" y="1225080"/>
            <a:ext cx="3999600" cy="335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B4F36DA-4312-4944-B322-F6E1292C1423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316080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6C243E3-D3FF-4126-85A8-C973A832A0B3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7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ru-RU" sz="3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11760" y="1399320"/>
            <a:ext cx="2807640" cy="278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E7D836F-0C21-41C1-A2FE-412B0B022286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38;p8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960" bIns="489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587844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26D683-B31C-440E-9D5D-5A49FA9066AA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42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31" name="Google Shape;43;p9"/>
          <p:cNvCxnSpPr/>
          <p:nvPr/>
        </p:nvCxnSpPr>
        <p:spPr>
          <a:xfrm>
            <a:off x="5029560" y="4495320"/>
            <a:ext cx="46872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65680" y="929160"/>
            <a:ext cx="4044960" cy="178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200" b="0" u="none" strike="noStrike">
                <a:solidFill>
                  <a:schemeClr val="lt2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939560" y="72432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marL="457200" indent="-343080">
              <a:lnSpc>
                <a:spcPct val="115000"/>
              </a:lnSpc>
              <a:buClr>
                <a:srgbClr val="FFFFFF"/>
              </a:buClr>
              <a:buFont typeface="Open Sans"/>
              <a:buChar char="●"/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lt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9E85C5-B2F3-4F7D-B6C7-6289DA049C0D}" type="slidenum">
              <a:rPr lang="uk" sz="1000" b="0" u="none" strike="noStrike">
                <a:solidFill>
                  <a:schemeClr val="lt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319680" y="4218840"/>
            <a:ext cx="5998320" cy="59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текста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8025048-D6C7-4C5C-9D6C-D1104F53BC56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772048" y="780221"/>
            <a:ext cx="4254918" cy="1335045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Програмна система для пошуку партнерів
для спортивних </a:t>
            </a:r>
            <a:r>
              <a:rPr lang="uk-UA" sz="25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активностей</a:t>
            </a:r>
            <a:endParaRPr lang="uk-UA" sz="25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2325757" y="3566237"/>
            <a:ext cx="4217041" cy="856677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Денис Михайленко, група ПЗПІ-23-9
Керівник: доц. кафедри ПІ Наталія </a:t>
            </a:r>
            <a:r>
              <a:rPr lang="uk-UA" sz="15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Русакова</a:t>
            </a:r>
            <a:endParaRPr lang="uk-UA" sz="21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Google Shape;64;p13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Google Shape;65;p13"/>
          <p:cNvPicPr/>
          <p:nvPr/>
        </p:nvPicPr>
        <p:blipFill>
          <a:blip r:embed="rId3"/>
          <a:stretch/>
        </p:blipFill>
        <p:spPr>
          <a:xfrm>
            <a:off x="204840" y="171000"/>
            <a:ext cx="2133720" cy="38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Google Shape;66;p13"/>
          <p:cNvPicPr/>
          <p:nvPr/>
        </p:nvPicPr>
        <p:blipFill>
          <a:blip r:embed="rId4"/>
          <a:stretch/>
        </p:blipFill>
        <p:spPr>
          <a:xfrm>
            <a:off x="7068600" y="171000"/>
            <a:ext cx="1924560" cy="43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Прямоугольник 1"/>
          <p:cNvSpPr/>
          <p:nvPr/>
        </p:nvSpPr>
        <p:spPr>
          <a:xfrm>
            <a:off x="0" y="4707871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серпня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uk-U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7376" y="89452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7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та актуальність</a:t>
            </a:r>
            <a:endParaRPr lang="uk-UA" sz="3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Google Shape;73;p14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Box 1"/>
          <p:cNvSpPr/>
          <p:nvPr/>
        </p:nvSpPr>
        <p:spPr>
          <a:xfrm>
            <a:off x="8778240" y="4606200"/>
            <a:ext cx="283680" cy="229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uk-UA" sz="900" b="0" dirty="0" smtClean="0">
                <a:latin typeface="Open Sans"/>
              </a:rPr>
              <a:t>2</a:t>
            </a:r>
            <a:endParaRPr lang="uk-UA" sz="14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6072" y="1344168"/>
            <a:ext cx="3630168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роботи</a:t>
            </a:r>
            <a:endParaRPr lang="uk-UA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76072" y="1709928"/>
            <a:ext cx="3630168" cy="87408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3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Створити єдине середовище для пошуку спортивних партнерів, організації подій, спілкування учасників та оцінювання результатів взаємодії.</a:t>
            </a:r>
            <a:endParaRPr lang="uk-UA" sz="13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690872" y="1344168"/>
            <a:ext cx="3630168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</a:t>
            </a:r>
            <a:endParaRPr lang="uk-UA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690872" y="1709928"/>
            <a:ext cx="3630168" cy="87408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3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Пошук партнерів часто розпорошений між </a:t>
            </a:r>
            <a:r>
              <a:rPr lang="uk-UA" sz="13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соцмережами</a:t>
            </a:r>
            <a:r>
              <a:rPr lang="uk-UA" sz="13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3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месенджерами</a:t>
            </a:r>
            <a:r>
              <a:rPr lang="uk-UA" sz="13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 форумами; це ускладнює координацію, пошук актуальних подій і роботу з локаціями.</a:t>
            </a:r>
            <a:endParaRPr lang="uk-UA" sz="13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12859" y="3136790"/>
            <a:ext cx="8138160" cy="887422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централізувати створення та пошук спортивних подій</a:t>
            </a:r>
          </a:p>
          <a:p>
            <a:pPr>
              <a:spcAft>
                <a:spcPts val="4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забезпечити фільтрацію за видом спорту, статусом, датою та місцем</a:t>
            </a:r>
          </a:p>
          <a:p>
            <a:pPr>
              <a:spcAft>
                <a:spcPts val="4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дати учасникам чат, карту та систему оцінювання</a:t>
            </a:r>
            <a:endParaRPr lang="uk-UA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9026" y="115442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normAutofit fontScale="92500"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7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проблеми та існуючих рішень</a:t>
            </a:r>
            <a:endParaRPr lang="uk-UA" sz="3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" name="Google Shape;80;p15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Box 1"/>
          <p:cNvSpPr/>
          <p:nvPr/>
        </p:nvSpPr>
        <p:spPr>
          <a:xfrm>
            <a:off x="8778240" y="4606200"/>
            <a:ext cx="283680" cy="229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uk-UA" sz="900" b="0" dirty="0" smtClean="0">
                <a:latin typeface="Open Sans"/>
              </a:rPr>
              <a:t>3</a:t>
            </a:r>
            <a:endParaRPr lang="uk-UA" sz="1400" b="0" u="none" strike="noStrike" dirty="0">
              <a:effectLst/>
              <a:uFillTx/>
              <a:latin typeface="Arial"/>
            </a:endParaRPr>
          </a:p>
        </p:txBody>
      </p:sp>
      <p:pic>
        <p:nvPicPr>
          <p:cNvPr id="51" name="Picture 5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39" y="729111"/>
            <a:ext cx="2885958" cy="2026016"/>
          </a:xfrm>
          <a:prstGeom prst="rect">
            <a:avLst/>
          </a:prstGeom>
        </p:spPr>
      </p:pic>
      <p:pic>
        <p:nvPicPr>
          <p:cNvPr id="54" name="Picture 53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104" y="796124"/>
            <a:ext cx="3910886" cy="187253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76072" y="2990088"/>
            <a:ext cx="769924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Що показав аналіз</a:t>
            </a:r>
            <a:endParaRPr lang="uk-UA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76072" y="3355848"/>
            <a:ext cx="7699248" cy="6509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2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Strava</a:t>
            </a:r>
            <a:r>
              <a:rPr lang="uk-UA" sz="12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добре працює з обліком та аналізом тренувань, а </a:t>
            </a:r>
            <a:r>
              <a:rPr lang="uk-UA" sz="12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Meetup</a:t>
            </a:r>
            <a:r>
              <a:rPr lang="uk-UA" sz="12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зі спільнотами та подіями. Водночас жоден із розглянутих сервісів не поєднує пошук спортивних партнерів, спеціалізовані спортивні події, оперативний чат і оцінювання учасників в одному середовищі.</a:t>
            </a:r>
            <a:endParaRPr lang="uk-UA" sz="125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43968" y="99392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7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</a:t>
            </a:r>
            <a:r>
              <a:rPr sz="27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задачі</a:t>
            </a:r>
            <a:r>
              <a:rPr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опис</a:t>
            </a:r>
            <a:r>
              <a:rPr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endParaRPr lang="en-US" sz="3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Google Shape;87;p16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Box 1"/>
          <p:cNvSpPr/>
          <p:nvPr/>
        </p:nvSpPr>
        <p:spPr>
          <a:xfrm>
            <a:off x="8778240" y="4606200"/>
            <a:ext cx="283680" cy="229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latin typeface="Open Sans"/>
              </a:rPr>
              <a:t>4</a:t>
            </a:r>
            <a:endParaRPr lang="en-US" sz="1400" b="0" u="none" strike="noStrike">
              <a:effectLst/>
              <a:uFillTx/>
              <a:latin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27990" y="1013791"/>
            <a:ext cx="8453231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Розробити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багатоплатформний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сервіс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SportMate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пошуку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партнерів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організації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спільних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спортивних</a:t>
            </a:r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активностей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" y="1984248"/>
            <a:ext cx="216712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Гість</a:t>
            </a:r>
            <a:endParaRPr lang="uk-UA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21792" y="2350008"/>
            <a:ext cx="2167128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Перегляд інформації про платформу</a:t>
            </a:r>
          </a:p>
          <a:p>
            <a:pPr algn="l">
              <a:spcAft>
                <a:spcPts val="300"/>
              </a:spcAft>
            </a:pPr>
            <a:r>
              <a:rPr sz="1250" b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Перехід до реєстрації / входу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27832" y="1984248"/>
            <a:ext cx="216712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</a:t>
            </a:r>
            <a:endParaRPr lang="uk-UA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227832" y="2350008"/>
            <a:ext cx="2167128" cy="11895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latin typeface="Times New Roman" panose="02020603050405020304" pitchFamily="18" charset="0"/>
                <a:cs typeface="Times New Roman" panose="02020603050405020304" pitchFamily="18" charset="0"/>
              </a:rPr>
              <a:t>Профіль</a:t>
            </a:r>
          </a:p>
          <a:p>
            <a:pPr algn="l">
              <a:spcAft>
                <a:spcPts val="300"/>
              </a:spcAft>
            </a:pPr>
            <a:r>
              <a:rPr sz="1250" b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 і пошук подій</a:t>
            </a:r>
          </a:p>
          <a:p>
            <a:pPr algn="l">
              <a:spcAft>
                <a:spcPts val="300"/>
              </a:spcAft>
            </a:pPr>
            <a:r>
              <a:rPr sz="1250" b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Участь та чат</a:t>
            </a:r>
          </a:p>
          <a:p>
            <a:pPr algn="l">
              <a:spcAft>
                <a:spcPts val="300"/>
              </a:spcAft>
            </a:pPr>
            <a:r>
              <a:rPr sz="1250" b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Карта</a:t>
            </a:r>
          </a:p>
          <a:p>
            <a:pPr algn="l">
              <a:spcAft>
                <a:spcPts val="300"/>
              </a:spcAft>
            </a:pPr>
            <a:r>
              <a:rPr sz="1250" b="0">
                <a:latin typeface="Times New Roman" panose="02020603050405020304" pitchFamily="18" charset="0"/>
                <a:cs typeface="Times New Roman" panose="02020603050405020304" pitchFamily="18" charset="0"/>
              </a:rPr>
              <a:t>Оцінювання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33872" y="1984248"/>
            <a:ext cx="216712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Адміністратор</a:t>
            </a:r>
            <a:endParaRPr lang="uk-UA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833872" y="2350008"/>
            <a:ext cx="2167128" cy="7278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Перегляд користувачів</a:t>
            </a:r>
          </a:p>
          <a:p>
            <a:pPr algn="l">
              <a:spcAft>
                <a:spcPts val="300"/>
              </a:spcAft>
            </a:pPr>
            <a:r>
              <a:rPr sz="1250" b="0">
                <a:latin typeface="Times New Roman" panose="02020603050405020304" pitchFamily="18" charset="0"/>
                <a:cs typeface="Times New Roman" panose="02020603050405020304" pitchFamily="18" charset="0"/>
              </a:rPr>
              <a:t>Блокування / розблокування</a:t>
            </a:r>
          </a:p>
          <a:p>
            <a:pPr algn="l">
              <a:spcAft>
                <a:spcPts val="300"/>
              </a:spcAft>
            </a:pPr>
            <a:r>
              <a:rPr sz="1250" b="0">
                <a:latin typeface="Times New Roman" panose="02020603050405020304" pitchFamily="18" charset="0"/>
                <a:cs typeface="Times New Roman" panose="02020603050405020304" pitchFamily="18" charset="0"/>
              </a:rPr>
              <a:t>Модерація подій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9269" y="122283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7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Вибір технологій розробки</a:t>
            </a:r>
            <a:endParaRPr lang="uk-UA" sz="3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Google Shape;94;p17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Box 1"/>
          <p:cNvSpPr/>
          <p:nvPr/>
        </p:nvSpPr>
        <p:spPr>
          <a:xfrm>
            <a:off x="8778240" y="4606200"/>
            <a:ext cx="283680" cy="229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uk-UA" sz="9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uk-UA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76072" y="1252728"/>
            <a:ext cx="216712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uk-UA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76072" y="1618488"/>
            <a:ext cx="2077676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C# • ASP.NET </a:t>
            </a: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API • .NET 8</a:t>
            </a:r>
          </a:p>
          <a:p>
            <a:pPr algn="l">
              <a:spcAft>
                <a:spcPts val="300"/>
              </a:spcAft>
            </a:pP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 API, бізнес-логіка, авторизація</a:t>
            </a:r>
            <a:endParaRPr lang="uk-UA" sz="105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227832" y="1252728"/>
            <a:ext cx="216712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uk-UA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227832" y="1618488"/>
            <a:ext cx="2044877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Npgsql</a:t>
            </a:r>
            <a:endParaRPr lang="uk-UA" sz="105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</a:pP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Реляційне зберігання та зв’язки</a:t>
            </a:r>
            <a:endParaRPr lang="uk-UA" sz="105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879592" y="1252728"/>
            <a:ext cx="216712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endParaRPr lang="uk-UA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879592" y="1618488"/>
            <a:ext cx="2167128" cy="4355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endParaRPr lang="uk-UA" sz="105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</a:pP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Вебінтерфейс</a:t>
            </a: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і захищена навігація</a:t>
            </a:r>
            <a:endParaRPr lang="uk-UA" sz="105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76072" y="2852928"/>
            <a:ext cx="216712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endParaRPr lang="uk-UA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76072" y="3218688"/>
            <a:ext cx="2167128" cy="4355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endParaRPr lang="uk-UA" sz="105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</a:pP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Мобільний клієнт зі спільним API</a:t>
            </a:r>
            <a:endParaRPr lang="uk-UA" sz="105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227832" y="2852928"/>
            <a:ext cx="216712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endParaRPr lang="uk-UA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227832" y="3218688"/>
            <a:ext cx="2167128" cy="4355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SignalR</a:t>
            </a:r>
            <a:endParaRPr lang="uk-UA" sz="105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</a:pP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Чат подій у реальному часі</a:t>
            </a:r>
            <a:endParaRPr lang="uk-UA" sz="105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879592" y="2852928"/>
            <a:ext cx="216712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lang="uk-UA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uk-UA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endParaRPr lang="uk-UA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879592" y="3218688"/>
            <a:ext cx="2167128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API • JWT • </a:t>
            </a:r>
            <a:r>
              <a:rPr lang="uk-UA" sz="10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endParaRPr lang="uk-UA" sz="105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</a:pP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Локації, автентифікація та захист паролів</a:t>
            </a:r>
            <a:endParaRPr lang="uk-UA" sz="105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9520" y="0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7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 програмного забезпечення</a:t>
            </a:r>
            <a:endParaRPr lang="uk-UA" sz="3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0" name="Google Shape;101;p18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Box 1"/>
          <p:cNvSpPr/>
          <p:nvPr/>
        </p:nvSpPr>
        <p:spPr>
          <a:xfrm>
            <a:off x="8778240" y="4606200"/>
            <a:ext cx="283680" cy="229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uk-UA" sz="9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uk-UA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94571" y="4254543"/>
            <a:ext cx="5202936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0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UML-діаграма компонентів</a:t>
            </a:r>
            <a:endParaRPr lang="uk-UA" sz="105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989320" y="1234440"/>
            <a:ext cx="2560320" cy="1887696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lang="uk-UA" sz="125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2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uk-UA" sz="12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uk-UA" sz="12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uk-UA" sz="12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2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uk-UA" sz="12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REST API</a:t>
            </a:r>
          </a:p>
          <a:p>
            <a:pPr>
              <a:spcAft>
                <a:spcPts val="400"/>
              </a:spcAft>
            </a:pPr>
            <a:r>
              <a:rPr lang="uk-UA" sz="125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2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ASP.NET </a:t>
            </a:r>
            <a:r>
              <a:rPr lang="uk-UA" sz="12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uk-UA" sz="12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бізнес-логіка та контролери</a:t>
            </a:r>
          </a:p>
          <a:p>
            <a:pPr>
              <a:spcAft>
                <a:spcPts val="400"/>
              </a:spcAft>
            </a:pPr>
            <a:r>
              <a:rPr lang="uk-UA" sz="125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2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 </a:t>
            </a:r>
            <a:r>
              <a:rPr lang="uk-UA" sz="12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uk-UA" sz="12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uk-UA" sz="12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Npgsql</a:t>
            </a:r>
            <a:r>
              <a:rPr lang="uk-UA" sz="12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uk-UA" sz="12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uk-UA" sz="125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lang="uk-UA" sz="125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2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SignalR</a:t>
            </a:r>
            <a:r>
              <a:rPr lang="uk-UA" sz="12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2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Hub</a:t>
            </a:r>
            <a:r>
              <a:rPr lang="uk-UA" sz="12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чат подій</a:t>
            </a:r>
          </a:p>
          <a:p>
            <a:pPr>
              <a:spcAft>
                <a:spcPts val="400"/>
              </a:spcAft>
            </a:pPr>
            <a:r>
              <a:rPr lang="uk-UA" sz="125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2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uk-UA" sz="12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2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lang="uk-UA" sz="12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локації</a:t>
            </a:r>
          </a:p>
          <a:p>
            <a:pPr>
              <a:spcAft>
                <a:spcPts val="400"/>
              </a:spcAft>
            </a:pPr>
            <a:r>
              <a:rPr lang="uk-UA" sz="125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2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uk-UA" sz="12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2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uk-UA" sz="12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автоматичні статуси</a:t>
            </a:r>
            <a:endParaRPr lang="uk-UA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944593" y="3564172"/>
            <a:ext cx="3005593" cy="4278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Клієнти використовують спільну серверну логіку, що спрощує підтримку та розширення.</a:t>
            </a:r>
            <a:endParaRPr lang="uk-UA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467139" y="1053548"/>
            <a:ext cx="5193196" cy="30784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480" y="98246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Програмні</a:t>
            </a:r>
            <a:r>
              <a:rPr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рішення</a:t>
            </a:r>
            <a:r>
              <a:rPr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організація</a:t>
            </a:r>
            <a:r>
              <a:rPr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розробки</a:t>
            </a:r>
            <a:endParaRPr lang="en-US" sz="3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Google Shape;108;p19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Box 1"/>
          <p:cNvSpPr/>
          <p:nvPr/>
        </p:nvSpPr>
        <p:spPr>
          <a:xfrm>
            <a:off x="8778240" y="4606200"/>
            <a:ext cx="283680" cy="229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55A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76072" y="1252728"/>
            <a:ext cx="225856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Шар</a:t>
            </a:r>
            <a:r>
              <a:rPr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6072" y="1618488"/>
            <a:ext cx="2258568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Контролери приймають HTTP-запити та передають їх сервісам.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27832" y="1252728"/>
            <a:ext cx="225856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Шар</a:t>
            </a:r>
            <a:r>
              <a:rPr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бізнес-логіки</a:t>
            </a:r>
            <a:endParaRPr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227832" y="1618488"/>
            <a:ext cx="2258568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Сервіси виконують перевірки, правила участі, рейтинги та роботу з подіями.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79592" y="1252728"/>
            <a:ext cx="225856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Шар</a:t>
            </a:r>
            <a:r>
              <a:rPr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endParaRPr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879592" y="1618488"/>
            <a:ext cx="2258568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 Core та ApplicationDbContext забезпечують роботу з PostgreSQL.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" y="2944368"/>
            <a:ext cx="353872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Безпека</a:t>
            </a:r>
            <a:endParaRPr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76072" y="3310128"/>
            <a:ext cx="3538728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 для хешування паролів; JWT для автентифікації; перевірка ролі та стану облікового запису.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99431" y="2944368"/>
            <a:ext cx="353872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Надійність</a:t>
            </a:r>
            <a:endParaRPr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599431" y="3310128"/>
            <a:ext cx="3538728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Валідація FluentValidation, транзакційне приєднання до події та автоматичне оновлення статусів.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94422" y="81946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7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Проєктування</a:t>
            </a:r>
            <a:r>
              <a:rPr lang="uk-UA" sz="27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даних та ключові сценарії</a:t>
            </a:r>
            <a:endParaRPr lang="uk-UA" sz="3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8" name="Google Shape;115;p20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Box 1"/>
          <p:cNvSpPr/>
          <p:nvPr/>
        </p:nvSpPr>
        <p:spPr>
          <a:xfrm>
            <a:off x="8778240" y="4606200"/>
            <a:ext cx="283680" cy="229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uk-UA" sz="9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uk-UA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" name="Picture 70" descr="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93" y="1143000"/>
            <a:ext cx="3400934" cy="324611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59784" y="4407210"/>
            <a:ext cx="3648456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9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ER-діаграма</a:t>
            </a:r>
            <a:endParaRPr lang="uk-UA" sz="95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4" name="Picture 73" descr="image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518" y="457201"/>
            <a:ext cx="1160080" cy="223729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930282" y="2757313"/>
            <a:ext cx="3648456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9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Життєвий цикл спортивної події</a:t>
            </a:r>
            <a:endParaRPr lang="uk-UA" sz="95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688287" y="1473774"/>
            <a:ext cx="2468880" cy="72584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lang="uk-UA" sz="115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1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Planned</a:t>
            </a:r>
            <a:r>
              <a:rPr lang="uk-UA" sz="1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uk-UA" sz="11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endParaRPr lang="uk-UA" sz="115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lang="uk-UA" sz="115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1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uk-UA" sz="1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uk-UA" sz="11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  <a:endParaRPr lang="uk-UA" sz="115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lang="uk-UA" sz="115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1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Cancelled</a:t>
            </a:r>
            <a:r>
              <a:rPr lang="uk-UA" sz="1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скасована подія</a:t>
            </a:r>
            <a:endParaRPr lang="uk-UA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416552" y="3405544"/>
            <a:ext cx="353872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Основні сутності</a:t>
            </a:r>
            <a:endParaRPr lang="uk-UA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416551" y="3771304"/>
            <a:ext cx="3967105" cy="60478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1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User, </a:t>
            </a:r>
            <a:r>
              <a:rPr lang="uk-UA" sz="11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uk-UA" sz="11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1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EventParticipant</a:t>
            </a:r>
            <a:r>
              <a:rPr lang="uk-UA" sz="11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1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ChatMessage</a:t>
            </a:r>
            <a:r>
              <a:rPr lang="uk-UA" sz="11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1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  <a:r>
              <a:rPr lang="uk-UA" sz="11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15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SportCategory</a:t>
            </a:r>
            <a:r>
              <a:rPr lang="uk-UA" sz="115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Зв’язки через первинні та зовнішні ключі забезпечують цілісність даних.</a:t>
            </a:r>
            <a:endParaRPr lang="uk-UA" sz="115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94422" y="85772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Ключові реалізаційні рішення</a:t>
            </a:r>
            <a:endParaRPr lang="uk-UA" sz="320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2" name="Google Shape;122;p21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Box 1"/>
          <p:cNvSpPr/>
          <p:nvPr/>
        </p:nvSpPr>
        <p:spPr>
          <a:xfrm>
            <a:off x="8778240" y="4606200"/>
            <a:ext cx="283680" cy="229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uk-UA" sz="900" b="0" dirty="0" smtClean="0">
                <a:solidFill>
                  <a:srgbClr val="455A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uk-UA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57200" y="1097280"/>
            <a:ext cx="37947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Безпечна автентифікація</a:t>
            </a:r>
            <a:endParaRPr lang="uk-UA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21792" y="1627632"/>
            <a:ext cx="3474720" cy="135883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050" b="0" dirty="0" err="1" smtClean="0">
                <a:latin typeface="Consolas"/>
              </a:rPr>
              <a:t>var</a:t>
            </a:r>
            <a:r>
              <a:rPr lang="uk-UA" sz="1050" b="0" dirty="0" smtClean="0">
                <a:latin typeface="Consolas"/>
              </a:rPr>
              <a:t> </a:t>
            </a:r>
            <a:r>
              <a:rPr lang="uk-UA" sz="1050" b="0" dirty="0" err="1" smtClean="0">
                <a:latin typeface="Consolas"/>
              </a:rPr>
              <a:t>isPasswordValid</a:t>
            </a:r>
            <a:r>
              <a:rPr lang="uk-UA" sz="1050" b="0" dirty="0" smtClean="0">
                <a:latin typeface="Consolas"/>
              </a:rPr>
              <a:t> =</a:t>
            </a:r>
          </a:p>
          <a:p>
            <a:pPr algn="l">
              <a:spcAft>
                <a:spcPts val="300"/>
              </a:spcAft>
            </a:pPr>
            <a:r>
              <a:rPr lang="uk-UA" sz="1050" b="0" dirty="0" smtClean="0">
                <a:latin typeface="Consolas"/>
              </a:rPr>
              <a:t>    </a:t>
            </a:r>
            <a:r>
              <a:rPr lang="uk-UA" sz="1050" b="0" dirty="0" err="1" smtClean="0">
                <a:latin typeface="Consolas"/>
              </a:rPr>
              <a:t>BCrypt.Verify</a:t>
            </a:r>
            <a:r>
              <a:rPr lang="uk-UA" sz="1050" b="0" dirty="0" smtClean="0">
                <a:latin typeface="Consolas"/>
              </a:rPr>
              <a:t>(</a:t>
            </a:r>
            <a:r>
              <a:rPr lang="uk-UA" sz="1050" b="0" dirty="0" err="1" smtClean="0">
                <a:latin typeface="Consolas"/>
              </a:rPr>
              <a:t>request.Password</a:t>
            </a:r>
            <a:r>
              <a:rPr lang="uk-UA" sz="1050" b="0" dirty="0" smtClean="0">
                <a:latin typeface="Consolas"/>
              </a:rPr>
              <a:t>, </a:t>
            </a:r>
            <a:r>
              <a:rPr lang="uk-UA" sz="1050" b="0" dirty="0" err="1" smtClean="0">
                <a:latin typeface="Consolas"/>
              </a:rPr>
              <a:t>user.PasswordHash</a:t>
            </a:r>
            <a:r>
              <a:rPr lang="uk-UA" sz="1050" b="0" dirty="0" smtClean="0">
                <a:latin typeface="Consolas"/>
              </a:rPr>
              <a:t>);</a:t>
            </a:r>
          </a:p>
          <a:p>
            <a:pPr algn="l">
              <a:spcAft>
                <a:spcPts val="300"/>
              </a:spcAft>
            </a:pPr>
            <a:r>
              <a:rPr lang="uk-UA" sz="1050" b="0" dirty="0" err="1" smtClean="0">
                <a:latin typeface="Consolas"/>
              </a:rPr>
              <a:t>if</a:t>
            </a:r>
            <a:r>
              <a:rPr lang="uk-UA" sz="1050" b="0" dirty="0" smtClean="0">
                <a:latin typeface="Consolas"/>
              </a:rPr>
              <a:t> (!</a:t>
            </a:r>
            <a:r>
              <a:rPr lang="uk-UA" sz="1050" b="0" dirty="0" err="1" smtClean="0">
                <a:latin typeface="Consolas"/>
              </a:rPr>
              <a:t>isPasswordValid</a:t>
            </a:r>
            <a:r>
              <a:rPr lang="uk-UA" sz="1050" b="0" dirty="0" smtClean="0">
                <a:latin typeface="Consolas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lang="uk-UA" sz="1050" b="0" dirty="0" smtClean="0">
                <a:latin typeface="Consolas"/>
              </a:rPr>
              <a:t>    </a:t>
            </a:r>
            <a:r>
              <a:rPr lang="uk-UA" sz="1050" b="0" dirty="0" err="1" smtClean="0">
                <a:latin typeface="Consolas"/>
              </a:rPr>
              <a:t>throw</a:t>
            </a:r>
            <a:r>
              <a:rPr lang="uk-UA" sz="1050" b="0" dirty="0" smtClean="0">
                <a:latin typeface="Consolas"/>
              </a:rPr>
              <a:t> </a:t>
            </a:r>
            <a:r>
              <a:rPr lang="uk-UA" sz="1050" b="0" dirty="0" err="1" smtClean="0">
                <a:latin typeface="Consolas"/>
              </a:rPr>
              <a:t>new</a:t>
            </a:r>
            <a:r>
              <a:rPr lang="uk-UA" sz="1050" b="0" dirty="0" smtClean="0">
                <a:latin typeface="Consolas"/>
              </a:rPr>
              <a:t> </a:t>
            </a:r>
            <a:r>
              <a:rPr lang="uk-UA" sz="1050" b="0" dirty="0" err="1" smtClean="0">
                <a:latin typeface="Consolas"/>
              </a:rPr>
              <a:t>UnauthorizedAccessException</a:t>
            </a:r>
            <a:r>
              <a:rPr lang="uk-UA" sz="1050" b="0" dirty="0" smtClean="0">
                <a:latin typeface="Consolas"/>
              </a:rPr>
              <a:t>(...);</a:t>
            </a:r>
          </a:p>
          <a:p>
            <a:pPr algn="l">
              <a:spcAft>
                <a:spcPts val="300"/>
              </a:spcAft>
            </a:pPr>
            <a:r>
              <a:rPr lang="uk-UA" sz="1050" b="0" dirty="0" err="1" smtClean="0">
                <a:latin typeface="Consolas"/>
              </a:rPr>
              <a:t>var</a:t>
            </a:r>
            <a:r>
              <a:rPr lang="uk-UA" sz="1050" b="0" dirty="0" smtClean="0">
                <a:latin typeface="Consolas"/>
              </a:rPr>
              <a:t> </a:t>
            </a:r>
            <a:r>
              <a:rPr lang="uk-UA" sz="1050" b="0" dirty="0" err="1" smtClean="0">
                <a:latin typeface="Consolas"/>
              </a:rPr>
              <a:t>token</a:t>
            </a:r>
            <a:r>
              <a:rPr lang="uk-UA" sz="1050" b="0" dirty="0" smtClean="0">
                <a:latin typeface="Consolas"/>
              </a:rPr>
              <a:t> = </a:t>
            </a:r>
            <a:r>
              <a:rPr lang="uk-UA" sz="1050" b="0" dirty="0" err="1" smtClean="0">
                <a:latin typeface="Consolas"/>
              </a:rPr>
              <a:t>GenerateJwtToken</a:t>
            </a:r>
            <a:r>
              <a:rPr lang="uk-UA" sz="1050" b="0" dirty="0" smtClean="0">
                <a:latin typeface="Consolas"/>
              </a:rPr>
              <a:t>(</a:t>
            </a:r>
            <a:r>
              <a:rPr lang="uk-UA" sz="1050" b="0" dirty="0" err="1" smtClean="0">
                <a:latin typeface="Consolas"/>
              </a:rPr>
              <a:t>user</a:t>
            </a:r>
            <a:r>
              <a:rPr lang="uk-UA" sz="1050" b="0" dirty="0" smtClean="0">
                <a:latin typeface="Consolas"/>
              </a:rPr>
              <a:t>);</a:t>
            </a:r>
            <a:endParaRPr lang="uk-UA" sz="1050" b="0" dirty="0">
              <a:latin typeface="Consola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57200" y="3127248"/>
            <a:ext cx="37947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Контроль конкурентного приєднання</a:t>
            </a:r>
            <a:endParaRPr lang="uk-UA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26761" y="3561587"/>
            <a:ext cx="34747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050" b="0" dirty="0" err="1" smtClean="0">
                <a:latin typeface="Consolas"/>
              </a:rPr>
              <a:t>Serializable</a:t>
            </a:r>
            <a:r>
              <a:rPr lang="uk-UA" sz="1050" b="0" dirty="0" smtClean="0">
                <a:latin typeface="Consolas"/>
              </a:rPr>
              <a:t> </a:t>
            </a:r>
            <a:r>
              <a:rPr lang="uk-UA" sz="1050" b="0" dirty="0" err="1" smtClean="0">
                <a:latin typeface="Consolas"/>
              </a:rPr>
              <a:t>transaction</a:t>
            </a:r>
            <a:endParaRPr lang="uk-UA" sz="1050" b="0" dirty="0" smtClean="0"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lang="uk-UA" sz="1050" b="0" dirty="0" smtClean="0">
                <a:latin typeface="Consolas"/>
              </a:rPr>
              <a:t>+ </a:t>
            </a:r>
            <a:r>
              <a:rPr lang="uk-UA" sz="1050" b="0" dirty="0" err="1" smtClean="0">
                <a:latin typeface="Consolas"/>
              </a:rPr>
              <a:t>limited</a:t>
            </a:r>
            <a:r>
              <a:rPr lang="uk-UA" sz="1050" b="0" dirty="0" smtClean="0">
                <a:latin typeface="Consolas"/>
              </a:rPr>
              <a:t> </a:t>
            </a:r>
            <a:r>
              <a:rPr lang="uk-UA" sz="1050" b="0" dirty="0" err="1" smtClean="0">
                <a:latin typeface="Consolas"/>
              </a:rPr>
              <a:t>retry</a:t>
            </a:r>
            <a:r>
              <a:rPr lang="uk-UA" sz="1050" b="0" dirty="0" smtClean="0">
                <a:latin typeface="Consolas"/>
              </a:rPr>
              <a:t> </a:t>
            </a:r>
            <a:r>
              <a:rPr lang="uk-UA" sz="1050" b="0" dirty="0" err="1" smtClean="0">
                <a:latin typeface="Consolas"/>
              </a:rPr>
              <a:t>with</a:t>
            </a:r>
            <a:r>
              <a:rPr lang="uk-UA" sz="1050" b="0" dirty="0" smtClean="0">
                <a:latin typeface="Consolas"/>
              </a:rPr>
              <a:t> </a:t>
            </a:r>
            <a:r>
              <a:rPr lang="uk-UA" sz="1050" b="0" dirty="0" err="1" smtClean="0">
                <a:latin typeface="Consolas"/>
              </a:rPr>
              <a:t>backoff</a:t>
            </a:r>
            <a:endParaRPr lang="uk-UA" sz="1050" b="0" dirty="0" smtClean="0"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lang="uk-UA" sz="1050" b="0" dirty="0" smtClean="0">
                <a:latin typeface="Consolas"/>
              </a:rPr>
              <a:t>→ кількість учасників не перевищує ліміт</a:t>
            </a:r>
            <a:endParaRPr lang="uk-UA" sz="1050" b="0" dirty="0">
              <a:latin typeface="Consola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526280" y="1097280"/>
            <a:ext cx="38404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Чат у реальному часі</a:t>
            </a:r>
            <a:endParaRPr lang="uk-UA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709160" y="1700784"/>
            <a:ext cx="3520440" cy="65864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100" b="0" dirty="0" err="1" smtClean="0">
                <a:latin typeface="Consolas"/>
              </a:rPr>
              <a:t>await</a:t>
            </a:r>
            <a:r>
              <a:rPr lang="uk-UA" sz="1100" b="0" dirty="0" smtClean="0">
                <a:latin typeface="Consolas"/>
              </a:rPr>
              <a:t> </a:t>
            </a:r>
            <a:r>
              <a:rPr lang="uk-UA" sz="1100" b="0" dirty="0" err="1" smtClean="0">
                <a:latin typeface="Consolas"/>
              </a:rPr>
              <a:t>Clients.Group</a:t>
            </a:r>
            <a:r>
              <a:rPr lang="uk-UA" sz="1100" b="0" dirty="0" smtClean="0">
                <a:latin typeface="Consolas"/>
              </a:rPr>
              <a:t>(</a:t>
            </a:r>
            <a:r>
              <a:rPr lang="uk-UA" sz="1100" b="0" dirty="0" err="1" smtClean="0">
                <a:latin typeface="Consolas"/>
              </a:rPr>
              <a:t>groupName</a:t>
            </a:r>
            <a:r>
              <a:rPr lang="uk-UA" sz="1100" b="0" dirty="0" smtClean="0">
                <a:latin typeface="Consolas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lang="uk-UA" sz="1100" b="0" dirty="0" smtClean="0">
                <a:latin typeface="Consolas"/>
              </a:rPr>
              <a:t>    .</a:t>
            </a:r>
            <a:r>
              <a:rPr lang="uk-UA" sz="1100" b="0" dirty="0" err="1" smtClean="0">
                <a:latin typeface="Consolas"/>
              </a:rPr>
              <a:t>SendAsync</a:t>
            </a:r>
            <a:r>
              <a:rPr lang="uk-UA" sz="1100" b="0" dirty="0" smtClean="0">
                <a:latin typeface="Consolas"/>
              </a:rPr>
              <a:t>("</a:t>
            </a:r>
            <a:r>
              <a:rPr lang="uk-UA" sz="1100" b="0" dirty="0" err="1" smtClean="0">
                <a:latin typeface="Consolas"/>
              </a:rPr>
              <a:t>ReceiveMessage</a:t>
            </a:r>
            <a:r>
              <a:rPr lang="uk-UA" sz="1100" b="0" dirty="0" smtClean="0">
                <a:latin typeface="Consolas"/>
              </a:rPr>
              <a:t>",</a:t>
            </a:r>
          </a:p>
          <a:p>
            <a:pPr algn="l">
              <a:spcAft>
                <a:spcPts val="300"/>
              </a:spcAft>
            </a:pPr>
            <a:r>
              <a:rPr lang="uk-UA" sz="1100" b="0" dirty="0" smtClean="0">
                <a:latin typeface="Consolas"/>
              </a:rPr>
              <a:t>               </a:t>
            </a:r>
            <a:r>
              <a:rPr lang="uk-UA" sz="1100" b="0" dirty="0" err="1" smtClean="0">
                <a:latin typeface="Consolas"/>
              </a:rPr>
              <a:t>messageResponse</a:t>
            </a:r>
            <a:r>
              <a:rPr lang="uk-UA" sz="1100" b="0" dirty="0" smtClean="0">
                <a:latin typeface="Consolas"/>
              </a:rPr>
              <a:t>);</a:t>
            </a:r>
            <a:endParaRPr lang="uk-UA" sz="1100" b="0" dirty="0">
              <a:latin typeface="Consola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526280" y="2926080"/>
            <a:ext cx="3794760" cy="748923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lang="uk-UA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повідомлення спочатку зберігається в </a:t>
            </a:r>
            <a:r>
              <a:rPr lang="uk-UA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uk-UA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lang="uk-UA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SignalR</a:t>
            </a:r>
            <a:r>
              <a:rPr lang="uk-UA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доставляє його підключеним учасникам</a:t>
            </a:r>
          </a:p>
          <a:p>
            <a:pPr>
              <a:spcAft>
                <a:spcPts val="400"/>
              </a:spcAft>
            </a:pPr>
            <a:r>
              <a:rPr lang="uk-UA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автоматичне </a:t>
            </a:r>
            <a:r>
              <a:rPr lang="uk-UA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перепідключення</a:t>
            </a:r>
            <a:r>
              <a:rPr lang="uk-UA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клієнта</a:t>
            </a:r>
            <a:endParaRPr lang="uk-U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19270" y="89452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7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 користувача</a:t>
            </a:r>
            <a:endParaRPr lang="uk-UA" sz="3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6" name="Google Shape;129;p22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1"/>
          <p:cNvSpPr/>
          <p:nvPr/>
        </p:nvSpPr>
        <p:spPr>
          <a:xfrm>
            <a:off x="8766314" y="4705591"/>
            <a:ext cx="330394" cy="229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uk-UA" sz="9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uk-UA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9" name="Picture 78" descr="image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291" y="621195"/>
            <a:ext cx="2502270" cy="2124973"/>
          </a:xfrm>
          <a:prstGeom prst="rect">
            <a:avLst/>
          </a:prstGeom>
        </p:spPr>
      </p:pic>
      <p:pic>
        <p:nvPicPr>
          <p:cNvPr id="82" name="Picture 81" descr="image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888" y="2855139"/>
            <a:ext cx="2637456" cy="2180023"/>
          </a:xfrm>
          <a:prstGeom prst="rect">
            <a:avLst/>
          </a:prstGeom>
        </p:spPr>
      </p:pic>
      <p:pic>
        <p:nvPicPr>
          <p:cNvPr id="85" name="Picture 84" descr="image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7833" y="1264256"/>
            <a:ext cx="1509823" cy="3147029"/>
          </a:xfrm>
          <a:prstGeom prst="rect">
            <a:avLst/>
          </a:prstGeom>
        </p:spPr>
      </p:pic>
      <p:pic>
        <p:nvPicPr>
          <p:cNvPr id="88" name="Picture 87" descr="image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5958" y="829572"/>
            <a:ext cx="1656028" cy="37026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14300" y="62718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7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Перевірка основних сценаріїв</a:t>
            </a:r>
            <a:endParaRPr lang="uk-UA" sz="3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0" name="Google Shape;129;p22"/>
          <p:cNvPicPr/>
          <p:nvPr/>
        </p:nvPicPr>
        <p:blipFill>
          <a:blip r:embed="rId2"/>
          <a:stretch/>
        </p:blipFill>
        <p:spPr>
          <a:xfrm>
            <a:off x="139711" y="4379478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Box 1"/>
          <p:cNvSpPr/>
          <p:nvPr/>
        </p:nvSpPr>
        <p:spPr>
          <a:xfrm>
            <a:off x="8766313" y="4606200"/>
            <a:ext cx="295607" cy="229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uk-UA" sz="900" b="0" dirty="0" smtClean="0">
                <a:solidFill>
                  <a:srgbClr val="455A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uk-UA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623880" y="800568"/>
            <a:ext cx="411480" cy="475488"/>
          </a:xfrm>
          <a:prstGeom prst="rect">
            <a:avLst/>
          </a:prstGeom>
          <a:solidFill>
            <a:srgbClr val="45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51312" y="873720"/>
            <a:ext cx="356616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05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№</a:t>
            </a:r>
            <a:endParaRPr lang="uk-UA" sz="105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035360" y="800568"/>
            <a:ext cx="2697480" cy="475488"/>
          </a:xfrm>
          <a:prstGeom prst="rect">
            <a:avLst/>
          </a:prstGeom>
          <a:solidFill>
            <a:srgbClr val="45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062792" y="873720"/>
            <a:ext cx="2642616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05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Сценарій</a:t>
            </a:r>
            <a:endParaRPr lang="uk-UA" sz="105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3732840" y="800568"/>
            <a:ext cx="2743200" cy="475488"/>
          </a:xfrm>
          <a:prstGeom prst="rect">
            <a:avLst/>
          </a:prstGeom>
          <a:solidFill>
            <a:srgbClr val="45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760272" y="873720"/>
            <a:ext cx="2688336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05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 перевіряється</a:t>
            </a:r>
            <a:endParaRPr lang="uk-UA" sz="105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6476040" y="800568"/>
            <a:ext cx="1828800" cy="475488"/>
          </a:xfrm>
          <a:prstGeom prst="rect">
            <a:avLst/>
          </a:prstGeom>
          <a:solidFill>
            <a:srgbClr val="455A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503472" y="873720"/>
            <a:ext cx="1773936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05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endParaRPr lang="uk-UA" sz="105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23880" y="1276056"/>
            <a:ext cx="411480" cy="539496"/>
          </a:xfrm>
          <a:prstGeom prst="rect">
            <a:avLst/>
          </a:prstGeom>
          <a:solidFill>
            <a:srgbClr val="F5F7F6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60456" y="1349208"/>
            <a:ext cx="33832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100" b="0" dirty="0" smtClean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uk-UA" sz="1100" b="0" dirty="0">
              <a:solidFill>
                <a:srgbClr val="1822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1035360" y="1276056"/>
            <a:ext cx="2697480" cy="539496"/>
          </a:xfrm>
          <a:prstGeom prst="rect">
            <a:avLst/>
          </a:prstGeom>
          <a:solidFill>
            <a:srgbClr val="F5F7F6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071936" y="1349208"/>
            <a:ext cx="262432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100" b="0" dirty="0" smtClean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Реєстрація / вхід</a:t>
            </a:r>
            <a:endParaRPr lang="uk-UA" sz="1100" b="0" dirty="0">
              <a:solidFill>
                <a:srgbClr val="1822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3732840" y="1276056"/>
            <a:ext cx="2743200" cy="539496"/>
          </a:xfrm>
          <a:prstGeom prst="rect">
            <a:avLst/>
          </a:prstGeom>
          <a:solidFill>
            <a:srgbClr val="F5F7F6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769416" y="1349208"/>
            <a:ext cx="267004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100" b="0" dirty="0" err="1" smtClean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Валідація</a:t>
            </a:r>
            <a:r>
              <a:rPr lang="uk-UA" sz="1100" b="0" dirty="0" smtClean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100" b="0" dirty="0" err="1" smtClean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uk-UA" sz="1100" b="0" dirty="0" smtClean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JWT</a:t>
            </a:r>
            <a:endParaRPr lang="uk-UA" sz="1100" b="0" dirty="0">
              <a:solidFill>
                <a:srgbClr val="1822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6476040" y="1276056"/>
            <a:ext cx="1828800" cy="539496"/>
          </a:xfrm>
          <a:prstGeom prst="rect">
            <a:avLst/>
          </a:prstGeom>
          <a:solidFill>
            <a:srgbClr val="F5F7F6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512616" y="1349208"/>
            <a:ext cx="175564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Успішно</a:t>
            </a:r>
            <a:endParaRPr lang="uk-UA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623880" y="1815552"/>
            <a:ext cx="4114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60456" y="1888704"/>
            <a:ext cx="33832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uk-UA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35360" y="1815552"/>
            <a:ext cx="26974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071936" y="1888704"/>
            <a:ext cx="262432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 події</a:t>
            </a:r>
            <a:endParaRPr lang="uk-UA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3732840" y="1815552"/>
            <a:ext cx="274320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3769416" y="1888704"/>
            <a:ext cx="267004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Збереження + організатор</a:t>
            </a:r>
            <a:endParaRPr lang="uk-UA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6476040" y="1815552"/>
            <a:ext cx="182880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6512616" y="1888704"/>
            <a:ext cx="175564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Успішно</a:t>
            </a:r>
            <a:endParaRPr lang="uk-UA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623880" y="2355048"/>
            <a:ext cx="411480" cy="539496"/>
          </a:xfrm>
          <a:prstGeom prst="rect">
            <a:avLst/>
          </a:prstGeom>
          <a:solidFill>
            <a:srgbClr val="F5F7F6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60456" y="2428200"/>
            <a:ext cx="33832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uk-UA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1035360" y="2355048"/>
            <a:ext cx="2697480" cy="539496"/>
          </a:xfrm>
          <a:prstGeom prst="rect">
            <a:avLst/>
          </a:prstGeom>
          <a:solidFill>
            <a:srgbClr val="F5F7F6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1936" y="2428200"/>
            <a:ext cx="262432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Приєднання до події</a:t>
            </a:r>
            <a:endParaRPr lang="uk-UA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3732840" y="2355048"/>
            <a:ext cx="2743200" cy="539496"/>
          </a:xfrm>
          <a:prstGeom prst="rect">
            <a:avLst/>
          </a:prstGeom>
          <a:solidFill>
            <a:srgbClr val="F5F7F6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769416" y="2428200"/>
            <a:ext cx="267004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Ліміт місць + транзакція</a:t>
            </a:r>
            <a:endParaRPr lang="uk-UA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6476040" y="2355048"/>
            <a:ext cx="1828800" cy="539496"/>
          </a:xfrm>
          <a:prstGeom prst="rect">
            <a:avLst/>
          </a:prstGeom>
          <a:solidFill>
            <a:srgbClr val="F5F7F6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6512616" y="2428200"/>
            <a:ext cx="175564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Успішно</a:t>
            </a:r>
            <a:endParaRPr lang="uk-UA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623880" y="2894544"/>
            <a:ext cx="4114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60456" y="2967696"/>
            <a:ext cx="33832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uk-UA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1035360" y="2894544"/>
            <a:ext cx="26974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071936" y="2967696"/>
            <a:ext cx="262432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Статуси події</a:t>
            </a:r>
            <a:endParaRPr lang="uk-UA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3732840" y="2894544"/>
            <a:ext cx="274320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3769416" y="2967696"/>
            <a:ext cx="267004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1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Planned</a:t>
            </a: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uk-UA" sz="11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uk-UA" sz="11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  <a:endParaRPr lang="uk-UA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6476040" y="2894544"/>
            <a:ext cx="182880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6512616" y="2967696"/>
            <a:ext cx="175564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Успішно</a:t>
            </a:r>
            <a:endParaRPr lang="uk-UA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623880" y="3434039"/>
            <a:ext cx="411480" cy="539496"/>
          </a:xfrm>
          <a:prstGeom prst="rect">
            <a:avLst/>
          </a:prstGeom>
          <a:solidFill>
            <a:srgbClr val="F5F7F6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60456" y="3507191"/>
            <a:ext cx="33832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uk-UA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1035360" y="3434039"/>
            <a:ext cx="2697480" cy="539496"/>
          </a:xfrm>
          <a:prstGeom prst="rect">
            <a:avLst/>
          </a:prstGeom>
          <a:solidFill>
            <a:srgbClr val="F5F7F6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1071936" y="3507191"/>
            <a:ext cx="262432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Чат події</a:t>
            </a:r>
            <a:endParaRPr lang="uk-UA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3732840" y="3434039"/>
            <a:ext cx="2743200" cy="539496"/>
          </a:xfrm>
          <a:prstGeom prst="rect">
            <a:avLst/>
          </a:prstGeom>
          <a:solidFill>
            <a:srgbClr val="F5F7F6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3769416" y="3507191"/>
            <a:ext cx="267004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1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SignalR</a:t>
            </a: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збереження історії</a:t>
            </a:r>
            <a:endParaRPr lang="uk-UA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6476040" y="3434039"/>
            <a:ext cx="1828800" cy="539496"/>
          </a:xfrm>
          <a:prstGeom prst="rect">
            <a:avLst/>
          </a:prstGeom>
          <a:solidFill>
            <a:srgbClr val="F5F7F6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512616" y="3507191"/>
            <a:ext cx="175564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Успішно</a:t>
            </a:r>
            <a:endParaRPr lang="uk-UA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623880" y="3973536"/>
            <a:ext cx="4114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660456" y="4046688"/>
            <a:ext cx="33832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uk-UA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035360" y="3973536"/>
            <a:ext cx="26974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1071936" y="4046688"/>
            <a:ext cx="262432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Карта / фільтри</a:t>
            </a:r>
            <a:endParaRPr lang="uk-UA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3732840" y="3973536"/>
            <a:ext cx="274320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3769416" y="4046688"/>
            <a:ext cx="267004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Локація та параметри пошуку</a:t>
            </a:r>
            <a:endParaRPr lang="uk-UA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6476040" y="3973536"/>
            <a:ext cx="182880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D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6512616" y="4046688"/>
            <a:ext cx="1755648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Успішно</a:t>
            </a:r>
            <a:endParaRPr lang="uk-UA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63995" y="126462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7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Практична цінність та перспективи</a:t>
            </a:r>
            <a:endParaRPr lang="uk-UA" sz="3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9437173" y="4880114"/>
            <a:ext cx="45719" cy="20592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r>
              <a:rPr lang="uk-UA" sz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uk-UA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4" name="Google Shape;136;p23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1"/>
          <p:cNvSpPr/>
          <p:nvPr/>
        </p:nvSpPr>
        <p:spPr>
          <a:xfrm>
            <a:off x="8741465" y="4606200"/>
            <a:ext cx="320455" cy="229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uk-UA" sz="900" b="0" dirty="0" smtClean="0">
                <a:solidFill>
                  <a:srgbClr val="455A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uk-UA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76072" y="1252728"/>
            <a:ext cx="353872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Практична цінність</a:t>
            </a:r>
            <a:endParaRPr lang="uk-UA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76072" y="1618488"/>
            <a:ext cx="3538728" cy="8433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250" b="0" dirty="0" err="1" smtClean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SportMate</a:t>
            </a:r>
            <a:r>
              <a:rPr lang="uk-UA" sz="1250" b="0" dirty="0" smtClean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об’єднує пошук партнерів, створення подій, участь, чат, карту та рейтинг у межах одного сервісу. Веб і мобільний клієнти працюють зі спільним REST API.</a:t>
            </a:r>
            <a:endParaRPr lang="uk-UA" sz="1250" b="0" dirty="0">
              <a:solidFill>
                <a:srgbClr val="1822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4736592" y="1252728"/>
            <a:ext cx="353872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Поточні обмеження</a:t>
            </a:r>
            <a:endParaRPr lang="uk-UA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736592" y="1618488"/>
            <a:ext cx="3538728" cy="6509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250" b="0" dirty="0" smtClean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Немає персоналізованих рекомендацій і приватних повідомлень; </a:t>
            </a:r>
            <a:r>
              <a:rPr lang="uk-UA" sz="1250" b="0" dirty="0" err="1" smtClean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аватари</a:t>
            </a:r>
            <a:r>
              <a:rPr lang="uk-UA" sz="1250" b="0" dirty="0" smtClean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фіксовані; мобільна версія орієнтована на </a:t>
            </a:r>
            <a:r>
              <a:rPr lang="uk-UA" sz="1250" b="0" dirty="0" err="1" smtClean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uk-UA" sz="1250" b="0" dirty="0" smtClean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1250" b="0" dirty="0">
              <a:solidFill>
                <a:srgbClr val="1822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76072" y="3127248"/>
            <a:ext cx="353872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Подальший розвиток</a:t>
            </a:r>
            <a:endParaRPr lang="uk-UA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76072" y="3493008"/>
            <a:ext cx="3538728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200" b="0" dirty="0" smtClean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Сповіщення про зміни подій, розширені рекомендації, додаткові параметри пошуку, приватне спілкування та детальніша статистика.</a:t>
            </a:r>
            <a:endParaRPr lang="uk-UA" sz="1200" b="0" dirty="0">
              <a:solidFill>
                <a:srgbClr val="1822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736592" y="3127248"/>
            <a:ext cx="353872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Масштабування</a:t>
            </a:r>
            <a:endParaRPr lang="uk-UA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736592" y="3493008"/>
            <a:ext cx="3538728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uk-UA" sz="1200" b="0" dirty="0" smtClean="0">
                <a:solidFill>
                  <a:srgbClr val="182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Спільна серверна логіка для двох платформ спрощує супровід і дозволяє централізовано розширювати бізнес-функціональність.</a:t>
            </a:r>
            <a:endParaRPr lang="uk-UA" sz="1200" b="0" dirty="0">
              <a:solidFill>
                <a:srgbClr val="1822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33881" y="103008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7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Підсумки</a:t>
            </a:r>
            <a:endParaRPr lang="uk-UA" sz="32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8" name="Google Shape;143;p24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Box 1"/>
          <p:cNvSpPr/>
          <p:nvPr/>
        </p:nvSpPr>
        <p:spPr>
          <a:xfrm>
            <a:off x="8726557" y="4606200"/>
            <a:ext cx="335363" cy="229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uk-UA" sz="9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uk-UA" sz="1400" b="0" u="none" strike="noStrike" dirty="0"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02920" y="1115568"/>
            <a:ext cx="804672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Мету курсового </a:t>
            </a:r>
            <a:r>
              <a:rPr lang="uk-UA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</a:t>
            </a:r>
            <a:r>
              <a:rPr lang="uk-U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досягнуто.</a:t>
            </a:r>
            <a:endParaRPr lang="uk-UA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95740" y="1754257"/>
            <a:ext cx="7635240" cy="145167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розроблено </a:t>
            </a:r>
            <a:r>
              <a:rPr lang="uk-UA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вебзастосунок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uk-UA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 мобільний застосунок на </a:t>
            </a:r>
            <a:r>
              <a:rPr lang="uk-UA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endParaRPr lang="uk-UA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 серверну частину на C# / ASP.NET </a:t>
            </a:r>
            <a:r>
              <a:rPr lang="uk-UA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API і реляційну БД </a:t>
            </a:r>
            <a:r>
              <a:rPr lang="uk-UA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uk-UA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забезпечено пошук, фільтрацію, створення та участь у спортивних подіях</a:t>
            </a:r>
          </a:p>
          <a:p>
            <a:pPr>
              <a:spcAft>
                <a:spcPts val="4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 чат через </a:t>
            </a:r>
            <a:r>
              <a:rPr lang="uk-UA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SignalR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інтеграцію </a:t>
            </a:r>
            <a:r>
              <a:rPr lang="uk-UA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 систему рейтингів</a:t>
            </a:r>
          </a:p>
          <a:p>
            <a:pPr>
              <a:spcAft>
                <a:spcPts val="400"/>
              </a:spcAft>
            </a:pPr>
            <a:r>
              <a:rPr lang="uk-UA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виконано перевірку ключових сценаріїв і проаналізовано прийняті архітектурні рішення</a:t>
            </a:r>
            <a:endParaRPr lang="uk-UA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16611" y="3653624"/>
            <a:ext cx="7543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uk-UA" sz="13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SportMate</a:t>
            </a:r>
            <a:r>
              <a:rPr lang="uk-UA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є базою для подальшого розвитку сервісу організації аматорських спортивних </a:t>
            </a:r>
            <a:r>
              <a:rPr lang="uk-UA" sz="13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активностей</a:t>
            </a:r>
            <a:r>
              <a:rPr lang="uk-UA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757</Words>
  <Application>Microsoft Office PowerPoint</Application>
  <PresentationFormat>Экран (16:9)</PresentationFormat>
  <Paragraphs>154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Consolas</vt:lpstr>
      <vt:lpstr>Economica</vt:lpstr>
      <vt:lpstr>Open Sans</vt:lpstr>
      <vt:lpstr>Symbol</vt:lpstr>
      <vt:lpstr>Times New Roman</vt:lpstr>
      <vt:lpstr>Wingdings</vt:lpstr>
      <vt:lpstr>Шаблон презентації кваліфікаційної роботи магістрів</vt:lpstr>
      <vt:lpstr>Програмна система для пошуку партнерів
для спортивних активностей</vt:lpstr>
      <vt:lpstr>Мета та актуальність</vt:lpstr>
      <vt:lpstr>Аналіз проблеми та існуючих рішень</vt:lpstr>
      <vt:lpstr>Постановка задачі та опис системи</vt:lpstr>
      <vt:lpstr>Вибір технологій розробки</vt:lpstr>
      <vt:lpstr>Архітектура програмного забезпечення</vt:lpstr>
      <vt:lpstr>Програмні рішення та організація розробки</vt:lpstr>
      <vt:lpstr>Проєктування даних та ключові сценарії</vt:lpstr>
      <vt:lpstr>Ключові реалізаційні рішення</vt:lpstr>
      <vt:lpstr>Інтерфейс користувача</vt:lpstr>
      <vt:lpstr>Перевірка основних сценаріїв</vt:lpstr>
      <vt:lpstr>Практична цінність та перспективи</vt:lpstr>
      <vt:lpstr>Підсумки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Програмна система для пошуку партнерів
для спортивних активностей</dc:title>
  <cp:lastModifiedBy>User</cp:lastModifiedBy>
  <cp:revision>8</cp:revision>
  <dcterms:modified xsi:type="dcterms:W3CDTF">2026-09-10T18:53:31Z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2024-10-03T11:39:34Z</dcterms:created>
  <dc:creator>Lexin</dc:creator>
  <dc:description/>
  <dc:language>en-US</dc:language>
  <cp:lastModifiedBy>Lexin</cp:lastModifiedBy>
  <dcterms:modified xsi:type="dcterms:W3CDTF">2024-10-03T11:55:51Z</dcterms:modified>
  <cp:revision>3</cp:revision>
  <dc:subject/>
  <dc:title>Тема роботи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Экран (16:9)</vt:lpwstr>
  </property>
  <property fmtid="{D5CDD505-2E9C-101B-9397-08002B2CF9AE}" pid="4" name="Slides">
    <vt:r8>13</vt:r8>
  </property>
</Properties>
</file>